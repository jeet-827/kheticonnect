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743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8B2626"/>
                </a:solidFill>
                <a:latin typeface="Arial"/>
              </a:defRPr>
            </a:pPr>
            <a:r>
              <a:t>SILVER OAK UNIVERSITY</a:t>
            </a:r>
          </a:p>
          <a:p>
            <a:pPr algn="r">
              <a:defRPr sz="1000" b="1">
                <a:solidFill>
                  <a:srgbClr val="8B2626"/>
                </a:solidFill>
                <a:latin typeface="Arial"/>
              </a:defRPr>
            </a:pPr>
            <a:r>
              <a:t>EDUCATION TO INNOVATION | NAAC 'A' 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E1E"/>
                </a:solidFill>
                <a:latin typeface="Georgia"/>
              </a:defRPr>
            </a:pPr>
            <a:r>
              <a:t>Dept. of CSE | Project Based Learning - I (PBL 1)</a:t>
            </a:r>
          </a:p>
          <a:p>
            <a:pPr algn="ctr">
              <a:defRPr sz="2000">
                <a:solidFill>
                  <a:srgbClr val="5A5A5A"/>
                </a:solidFill>
                <a:latin typeface="Georgia"/>
              </a:defRPr>
            </a:pPr>
            <a:r>
              <a:t>Course Code: 1010043319</a:t>
            </a:r>
          </a:p>
          <a:p>
            <a:pPr algn="ctr">
              <a:defRPr sz="3600" b="1">
                <a:solidFill>
                  <a:srgbClr val="107C41"/>
                </a:solidFill>
                <a:latin typeface="Georgia"/>
              </a:defRPr>
            </a:pPr>
            <a:r>
              <a:t>KHETICONNECT</a:t>
            </a:r>
          </a:p>
          <a:p>
            <a:pPr algn="ctr">
              <a:defRPr sz="1800" b="1">
                <a:solidFill>
                  <a:srgbClr val="8B2626"/>
                </a:solidFill>
                <a:latin typeface="Georgia"/>
              </a:defRPr>
            </a:pPr>
            <a:r>
              <a:t>Smart Agritech Direct Farmer-to-Consumer &amp; Real-Time Crop Bidding Platform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3291840"/>
          <a:ext cx="999713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071055"/>
              </a:tblGrid>
              <a:tr h="621792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Group ID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PBL-CE-2026-42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Enrollment No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2502031830037, 2502031830005, 2502031830040, 2502031830048, 2502031830017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Jeet Ranpariya, Kushwaha Ankitkumar, Het Nakrani, Yash Makwana, Rajdipsinh Chauhan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Computer Science &amp; Engineering (CSE)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Guide Name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Prof. Guide Name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28600"/>
            <a:ext cx="4876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B2626"/>
                </a:solidFill>
                <a:latin typeface="Arial"/>
              </a:defRPr>
            </a:pPr>
            <a:r>
              <a:t>SILVER OAK UNIVERSITY</a:t>
            </a:r>
          </a:p>
          <a:p>
            <a:pPr algn="r">
              <a:defRPr sz="900" b="1">
                <a:solidFill>
                  <a:srgbClr val="8B2626"/>
                </a:solidFill>
                <a:latin typeface="Arial"/>
              </a:defRPr>
            </a:pPr>
            <a:r>
              <a:t>EDUCATION TO INNOVATION | NAAC 'A'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8B2626"/>
          </a:solidFill>
          <a:ln>
            <a:solidFill>
              <a:srgbClr val="8B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A5A5A"/>
                </a:solidFill>
                <a:latin typeface="Arial"/>
              </a:defRPr>
            </a:pPr>
            <a:r>
              <a:t>21-08-2026                 DEPARTMENT OF COMPUTER ENGINEERING              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A5A5A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Georgia"/>
              </a:defRPr>
            </a:pPr>
            <a:r>
              <a:t>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•  Introduction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•  Background and Motivation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•  Relevance and Importance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•  Literature Survey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•  Objectives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•  UML Diagram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•  Work carried out till date (Table format)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•  Timeline Chart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28600"/>
            <a:ext cx="4876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B2626"/>
                </a:solidFill>
                <a:latin typeface="Arial"/>
              </a:defRPr>
            </a:pPr>
            <a:r>
              <a:t>SILVER OAK UNIVERSITY</a:t>
            </a:r>
          </a:p>
          <a:p>
            <a:pPr algn="r">
              <a:defRPr sz="900" b="1">
                <a:solidFill>
                  <a:srgbClr val="8B2626"/>
                </a:solidFill>
                <a:latin typeface="Arial"/>
              </a:defRPr>
            </a:pPr>
            <a:r>
              <a:t>EDUCATION TO INNOVATION | NAAC 'A'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8B2626"/>
          </a:solidFill>
          <a:ln>
            <a:solidFill>
              <a:srgbClr val="8B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A5A5A"/>
                </a:solidFill>
                <a:latin typeface="Arial"/>
              </a:defRPr>
            </a:pPr>
            <a:r>
              <a:t>21-08-2026                 DEPARTMENT OF COMPUTER ENGINEERING              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A5A5A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Research Area &amp; Domain:</a:t>
            </a:r>
          </a:p>
          <a:p>
            <a:pPr lvl="1">
              <a:spcAft>
                <a:spcPts val="1000"/>
              </a:spcAft>
              <a:defRPr sz="1900">
                <a:solidFill>
                  <a:srgbClr val="1E1E1E"/>
                </a:solidFill>
                <a:latin typeface="Calibri"/>
              </a:defRPr>
            </a:pPr>
            <a:r>
              <a:t>Agriculture Technology (Agritech), Web Engineering &amp; E-Commerce.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Core Product Overview:</a:t>
            </a:r>
          </a:p>
          <a:p>
            <a:pPr lvl="1">
              <a:spcAft>
                <a:spcPts val="1000"/>
              </a:spcAft>
              <a:defRPr sz="1900">
                <a:solidFill>
                  <a:srgbClr val="1E1E1E"/>
                </a:solidFill>
                <a:latin typeface="Calibri"/>
              </a:defRPr>
            </a:pPr>
            <a:r>
              <a:t>KhetiConnect is an integrated web-based platform designed to bridge the gap between farmers, wholesale buyers, and end consumers.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Key Features: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Direct Marketplace: Eliminates middlemen and commission agents.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Real-Time Mandi Rates: Live ticker across APMC Mandis for price transparency.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Dual Selling Modes: Fixed-price direct retail and dynamic auction bidding for wholesale harvests.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Farmer Community &amp; Trust Portal: Knowledge-sharing forum with peer-to-peer QA and verified trust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28600"/>
            <a:ext cx="4876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B2626"/>
                </a:solidFill>
                <a:latin typeface="Arial"/>
              </a:defRPr>
            </a:pPr>
            <a:r>
              <a:t>SILVER OAK UNIVERSITY</a:t>
            </a:r>
          </a:p>
          <a:p>
            <a:pPr algn="r">
              <a:defRPr sz="900" b="1">
                <a:solidFill>
                  <a:srgbClr val="8B2626"/>
                </a:solidFill>
                <a:latin typeface="Arial"/>
              </a:defRPr>
            </a:pPr>
            <a:r>
              <a:t>EDUCATION TO INNOVATION | NAAC 'A'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8B2626"/>
          </a:solidFill>
          <a:ln>
            <a:solidFill>
              <a:srgbClr val="8B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A5A5A"/>
                </a:solidFill>
                <a:latin typeface="Arial"/>
              </a:defRPr>
            </a:pPr>
            <a:r>
              <a:t>21-08-2026                 DEPARTMENT OF COMPUTER ENGINEERING              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A5A5A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Georgia"/>
              </a:defRPr>
            </a:pPr>
            <a:r>
              <a:t>Background and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Background: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Agriculture sustains over 50% of India's workforce, but farmers receive less than 30% of the end-consumer price due to commission agents and fragmented supply chains.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Information asymmetry about real-time market rates further limits farmers' bargaining power and financial viability.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Motivation: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Empower Farmers: Facilitate dynamic price discovery and fair profit retention.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Modern Tech Adoption: Leverage web technologies (React, Vite, Node.js) for a fast, responsive UI optimized for low-bandwidth rural networks.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Transparent Transactions: Enable trackable trades supplemented with peer community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28600"/>
            <a:ext cx="4876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B2626"/>
                </a:solidFill>
                <a:latin typeface="Arial"/>
              </a:defRPr>
            </a:pPr>
            <a:r>
              <a:t>SILVER OAK UNIVERSITY</a:t>
            </a:r>
          </a:p>
          <a:p>
            <a:pPr algn="r">
              <a:defRPr sz="900" b="1">
                <a:solidFill>
                  <a:srgbClr val="8B2626"/>
                </a:solidFill>
                <a:latin typeface="Arial"/>
              </a:defRPr>
            </a:pPr>
            <a:r>
              <a:t>EDUCATION TO INNOVATION | NAAC 'A'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8B2626"/>
          </a:solidFill>
          <a:ln>
            <a:solidFill>
              <a:srgbClr val="8B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A5A5A"/>
                </a:solidFill>
                <a:latin typeface="Arial"/>
              </a:defRPr>
            </a:pPr>
            <a:r>
              <a:t>21-08-2026                 DEPARTMENT OF COMPUTER ENGINEERING               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A5A5A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Georgia"/>
              </a:defRPr>
            </a:pPr>
            <a:r>
              <a:t>Relevance and Importance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New Insights &amp; Technical Contributions: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Hybrid E-Commerce: Combines instant retail checkout (Cart/Drawer) with real-time wholesale auction bidding.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Dynamic Pricing: Market demand determines values above seller-defined reserve prices.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Trust System: Badge-verified profiles, quality ratings, and harvest date metadata.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Stakeholders Value: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Farmers &amp; FPOs: Direct market access and better price visibility.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Wholesale Traders &amp; Retail Buyers: Verified supply, transparent pricing, and quality assurance.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Societal &amp; Economic Value: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Digital inclusion for agricultural market participation, reduced post-harvest food loss, and stabilized farm income.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28600"/>
            <a:ext cx="4876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B2626"/>
                </a:solidFill>
                <a:latin typeface="Arial"/>
              </a:defRPr>
            </a:pPr>
            <a:r>
              <a:t>SILVER OAK UNIVERSITY</a:t>
            </a:r>
          </a:p>
          <a:p>
            <a:pPr algn="r">
              <a:defRPr sz="900" b="1">
                <a:solidFill>
                  <a:srgbClr val="8B2626"/>
                </a:solidFill>
                <a:latin typeface="Arial"/>
              </a:defRPr>
            </a:pPr>
            <a:r>
              <a:t>EDUCATION TO INNOVATION | NAAC 'A'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8B2626"/>
          </a:solidFill>
          <a:ln>
            <a:solidFill>
              <a:srgbClr val="8B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A5A5A"/>
                </a:solidFill>
                <a:latin typeface="Arial"/>
              </a:defRPr>
            </a:pPr>
            <a:r>
              <a:t>21-08-2026                 DEPARTMENT OF COMPUTER ENGINEERING               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A5A5A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Georgia"/>
              </a:defRPr>
            </a:pPr>
            <a:r>
              <a:t>Literature Survey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887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2926080"/>
                <a:gridCol w="2773375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Platform / Literature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Approach / Capabilities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Identified Limitations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KhetiConnect Advantage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e-NAM (Govt of India)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National APMC network for market access and price discovery.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Complex onboarding and poor UI limit ease of use for rural farmers.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Simplified, farmer-friendly access with highly optimized UX.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Agribazaar / DeHaat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B2B procurement and large-scale agri-commerce support.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B2B-heavy workflows and rigid pricing reduce flexibility.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Combines dynamic wholesale bidding with retail purchasing.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Traditional E-Grocery (Amazon Fresh, BigBasket)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Urban delivery and consumer-focused ordering.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Low farm-gate prices and zero direct farmer interaction.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Connects farmers &amp; buyers directly for transparent market participation.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486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1">
                <a:solidFill>
                  <a:srgbClr val="8B2626"/>
                </a:solidFill>
              </a:defRPr>
            </a:pPr>
            <a:r>
              <a:t>Key Inference: No existing platform combines real-time bidding with instant retail purchasing. KhetiConnect integrates Mandi Analytics, Live Bidding, Direct Retail Cart, and Community Q&amp;A in one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28600"/>
            <a:ext cx="4876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B2626"/>
                </a:solidFill>
                <a:latin typeface="Arial"/>
              </a:defRPr>
            </a:pPr>
            <a:r>
              <a:t>SILVER OAK UNIVERSITY</a:t>
            </a:r>
          </a:p>
          <a:p>
            <a:pPr algn="r">
              <a:defRPr sz="900" b="1">
                <a:solidFill>
                  <a:srgbClr val="8B2626"/>
                </a:solidFill>
                <a:latin typeface="Arial"/>
              </a:defRPr>
            </a:pPr>
            <a:r>
              <a:t>EDUCATION TO INNOVATION | NAAC 'A'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8B2626"/>
          </a:solidFill>
          <a:ln>
            <a:solidFill>
              <a:srgbClr val="8B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A5A5A"/>
                </a:solidFill>
                <a:latin typeface="Arial"/>
              </a:defRPr>
            </a:pPr>
            <a:r>
              <a:t>21-08-2026                 DEPARTMENT OF COMPUTER ENGINEERING               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A5A5A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Primary Objective:</a:t>
            </a:r>
          </a:p>
          <a:p>
            <a:pPr lvl="1">
              <a:spcAft>
                <a:spcPts val="1000"/>
              </a:spcAft>
              <a:defRPr sz="1900">
                <a:solidFill>
                  <a:srgbClr val="1E1E1E"/>
                </a:solidFill>
                <a:latin typeface="Calibri"/>
              </a:defRPr>
            </a:pPr>
            <a:r>
              <a:t>Design and implement KhetiConnect, a full-stack agritech web portal for direct agricultural trade and dynamic crop bidding.</a:t>
            </a:r>
          </a:p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Specific Sub-Objectives: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1. Build a responsive frontend UI using React, Vite, and TailwindCSS.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2. Implement a live Mandi rate ticker for real-time crop market prices.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3. Develop a dynamic bidding engine with real-time incremental bids.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4. Create an integrated shopping cart and checkout flow with mock payment.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5. Build a farmer community portal for discussions, disease solutions, and expert advice.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6. Establish robust authentication with role-based access control (Farmer/Buyer).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28600"/>
            <a:ext cx="4876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B2626"/>
                </a:solidFill>
                <a:latin typeface="Arial"/>
              </a:defRPr>
            </a:pPr>
            <a:r>
              <a:t>SILVER OAK UNIVERSITY</a:t>
            </a:r>
          </a:p>
          <a:p>
            <a:pPr algn="r">
              <a:defRPr sz="900" b="1">
                <a:solidFill>
                  <a:srgbClr val="8B2626"/>
                </a:solidFill>
                <a:latin typeface="Arial"/>
              </a:defRPr>
            </a:pPr>
            <a:r>
              <a:t>EDUCATION TO INNOVATION | NAAC 'A'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8B2626"/>
          </a:solidFill>
          <a:ln>
            <a:solidFill>
              <a:srgbClr val="8B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A5A5A"/>
                </a:solidFill>
                <a:latin typeface="Arial"/>
              </a:defRPr>
            </a:pPr>
            <a:r>
              <a:t>21-08-2026                 DEPARTMENT OF COMPUTER ENGINEERING               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A5A5A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Georgia"/>
              </a:defRPr>
            </a:pPr>
            <a:r>
              <a:t>UML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8B2626"/>
                </a:solidFill>
                <a:latin typeface="Calibri"/>
              </a:defRPr>
            </a:pPr>
            <a:r>
              <a:t>1) Use Case Diagram (Actors &amp; Actions):</a:t>
            </a:r>
          </a:p>
          <a:p>
            <a:pPr lvl="1"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Farmer: Register/Login, Add Crop Listing (Fixed/Auction), Monitor Bids, Accept Bid, Post Q&amp;A.</a:t>
            </a:r>
          </a:p>
          <a:p>
            <a:pPr lvl="1"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Buyer: Search Crops, View Mandi Rates, Place Bid, Add to Cart &amp; Checkout, Write Reviews.</a:t>
            </a:r>
          </a:p>
          <a:p>
            <a:pPr lvl="1"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Admin: Verify Profiles, Manage Categories, Monitor System Transactions.</a:t>
            </a:r>
          </a:p>
          <a:p>
            <a:pPr>
              <a:spcAft>
                <a:spcPts val="1000"/>
              </a:spcAft>
              <a:defRPr sz="2000" b="1">
                <a:solidFill>
                  <a:srgbClr val="8B2626"/>
                </a:solidFill>
                <a:latin typeface="Calibri"/>
              </a:defRPr>
            </a:pPr>
            <a:r>
              <a:t>2) Class Diagram (Core Entities &amp; Relationships):</a:t>
            </a:r>
          </a:p>
          <a:p>
            <a:pPr lvl="1"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User (abstract): userId, name, email, phone, role -&gt; Farmer (isVerified, rating) &amp; Buyer (cartItems, activeBids).</a:t>
            </a:r>
          </a:p>
          <a:p>
            <a:pPr lvl="1"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Product/Crop: cropId, title, category, price, quantity, listingType, currentHighestBid, auctionEndsAt.</a:t>
            </a:r>
          </a:p>
          <a:p>
            <a:pPr lvl="1"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Bid &amp; Order: bidId, amount, timestamp, buyerId, order status, totalAmount.</a:t>
            </a:r>
          </a:p>
          <a:p>
            <a:pPr>
              <a:spcAft>
                <a:spcPts val="1000"/>
              </a:spcAft>
              <a:defRPr sz="2000" b="1">
                <a:solidFill>
                  <a:srgbClr val="8B2626"/>
                </a:solidFill>
                <a:latin typeface="Calibri"/>
              </a:defRPr>
            </a:pPr>
            <a:r>
              <a:t>3) Sequence Diagram (Crop Auction Bidding Flow):</a:t>
            </a:r>
          </a:p>
          <a:p>
            <a:pPr lvl="1"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Initiation -&gt; Submission -&gt; Validation (KhetiContext min increment) -&gt; State Update (highest bid &amp; history) -&gt; Confirmation (real-time UI toast).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28600"/>
            <a:ext cx="4876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B2626"/>
                </a:solidFill>
                <a:latin typeface="Arial"/>
              </a:defRPr>
            </a:pPr>
            <a:r>
              <a:t>SILVER OAK UNIVERSITY</a:t>
            </a:r>
          </a:p>
          <a:p>
            <a:pPr algn="r">
              <a:defRPr sz="900" b="1">
                <a:solidFill>
                  <a:srgbClr val="8B2626"/>
                </a:solidFill>
                <a:latin typeface="Arial"/>
              </a:defRPr>
            </a:pPr>
            <a:r>
              <a:t>EDUCATION TO INNOVATION | NAAC 'A'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8B2626"/>
          </a:solidFill>
          <a:ln>
            <a:solidFill>
              <a:srgbClr val="8B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A5A5A"/>
                </a:solidFill>
                <a:latin typeface="Arial"/>
              </a:defRPr>
            </a:pPr>
            <a:r>
              <a:t>21-08-2026                 DEPARTMENT OF COMPUTER ENGINEERING               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A5A5A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Georgia"/>
              </a:defRPr>
            </a:pPr>
            <a:r>
              <a:t>Work Carried Out Till Date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8872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27855"/>
                <a:gridCol w="2286000"/>
                <a:gridCol w="182880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Module / Component Name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Description &amp; Key Functionality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Technologies Used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8B262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Authentication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Login modal, role selector (Farmer/Buyer), authentication context.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React Context, LocalStorage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Header &amp; Navigation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Tabs, cart drawer trigger, user profile badge.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React, Lucide Icons, TailwindCSS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Live Mandi Ticker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Scrolling prices across APMC Mandis.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React State, Tailwind Animations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Marketplace &amp; Bidding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Product grid, search, live modal, bid history.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React Hooks, Context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Cart &amp; 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Drawer, price calc, payment modal with confetti animations.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React, Canvas-Confetti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Community &amp; Dashboard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Forum, Q&amp;A, active bids, won auctions.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React State, Custom Modals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8B2626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28600"/>
            <a:ext cx="4876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B2626"/>
                </a:solidFill>
                <a:latin typeface="Arial"/>
              </a:defRPr>
            </a:pPr>
            <a:r>
              <a:t>SILVER OAK UNIVERSITY</a:t>
            </a:r>
          </a:p>
          <a:p>
            <a:pPr algn="r">
              <a:defRPr sz="900" b="1">
                <a:solidFill>
                  <a:srgbClr val="8B2626"/>
                </a:solidFill>
                <a:latin typeface="Arial"/>
              </a:defRPr>
            </a:pPr>
            <a:r>
              <a:t>EDUCATION TO INNOVATION | NAAC 'A'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8B2626"/>
          </a:solidFill>
          <a:ln>
            <a:solidFill>
              <a:srgbClr val="8B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A5A5A"/>
                </a:solidFill>
                <a:latin typeface="Arial"/>
              </a:defRPr>
            </a:pPr>
            <a:r>
              <a:t>21-08-2026                 DEPARTMENT OF COMPUTER ENGINEERING              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A5A5A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Georgia"/>
              </a:defRPr>
            </a:pPr>
            <a:r>
              <a:t>Timeline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8B2626"/>
                </a:solidFill>
                <a:latin typeface="Calibri"/>
              </a:defRPr>
            </a:pPr>
            <a:r>
              <a:t>Chronological Project Milestones &amp; Execution Roadmap: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Phase 1 (Month 1): Problem Formulation, SRS Document &amp; Domain Literature Review.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Phase 2 (Month 2): System Architecture, Database Schema &amp; UML Modeling (Use Case, Class, Sequence).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Phase 3 (Month 3): Frontend Layout Setup, Design System, Header/Footer &amp; Mandi Ticker.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Phase 4 (Month 4): Core Marketplace Grid, Bidding Engine Modal &amp; Cart Drawer Development.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Phase 5 (Month 5): Auth Flow, Community Forum, Dashboard Analytics &amp; Simulated Payments.</a:t>
            </a:r>
          </a:p>
          <a:p>
            <a:pPr lvl="1"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• Phase 6 (Month 6): Integration Testing, Optimization, Code Verification &amp; Final PPT Documentation.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28600"/>
            <a:ext cx="4876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B2626"/>
                </a:solidFill>
                <a:latin typeface="Arial"/>
              </a:defRPr>
            </a:pPr>
            <a:r>
              <a:t>SILVER OAK UNIVERSITY</a:t>
            </a:r>
          </a:p>
          <a:p>
            <a:pPr algn="r">
              <a:defRPr sz="900" b="1">
                <a:solidFill>
                  <a:srgbClr val="8B2626"/>
                </a:solidFill>
                <a:latin typeface="Arial"/>
              </a:defRPr>
            </a:pPr>
            <a:r>
              <a:t>EDUCATION TO INNOVATION | NAAC 'A'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8B2626"/>
          </a:solidFill>
          <a:ln>
            <a:solidFill>
              <a:srgbClr val="8B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A5A5A"/>
                </a:solidFill>
                <a:latin typeface="Arial"/>
              </a:defRPr>
            </a:pPr>
            <a:r>
              <a:t>21-08-2026                 DEPARTMENT OF COMPUTER ENGINEERING               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A5A5A"/>
                </a:solidFill>
              </a:defRPr>
            </a:pPr>
            <a:r>
              <a:t>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Georgia"/>
              </a:defRPr>
            </a:pPr>
            <a: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[1] Department of Agriculture &amp; Farmers Welfare, Govt of India. "e-National Agriculture Market (eNAM) Implementation Guidelines." 2023.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[2] IEEE Transactions on Agricultural Engineering. "Blockchain and IoT-based Transparent Agricultural Supply Chain and Price Discovery Systems." IEEE Access, Vol. 11, pp. 45210–45222, 2023.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[3] S. Patel and R. Kumar. "Impact of Direct Farmer-to-Consumer Digital Marketplaces on Rural Economy." Journal of Agricultural Systems and Web Engineering, 2024.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[4] React Documentation &amp; Design Standards. "Building Scalable Component Architectures with React 18 &amp; Vite." https://react.dev/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[5] Tailwind Labs. "Modern Utility-First CSS Principles for Web Applications." https://tailwindcss.com/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